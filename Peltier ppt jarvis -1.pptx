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3" r:id="rId5"/>
    <p:sldId id="294" r:id="rId6"/>
    <p:sldId id="296" r:id="rId7"/>
    <p:sldId id="299" r:id="rId8"/>
    <p:sldId id="300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370" y="-2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20077-A078-12E3-F095-05337DCA9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C628F4C3-2F47-17E0-57F7-260377D14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AEF57B45-7BC6-61CC-EF56-78602D7CC35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0D10DCAD-D5A5-F76B-1893-842145A413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14460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1B64D-D2CB-5882-4949-BD205557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59A80B4F-CE32-76D4-51F3-EAF82FD4D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AFEE412C-8648-B232-02A5-A10E33DBE7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59F7B87E-2417-D79E-7BBC-3F70730834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863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12310" y="1142385"/>
            <a:ext cx="11367379" cy="5008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- Optimization of Thermoelectric Peltier-Based Cooling for Energy - Limited Regions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- Open Innovation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– OE27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- Team Volt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0F32EB-E1B0-7078-198A-0EE7C34F6E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452"/>
          <a:stretch>
            <a:fillRect/>
          </a:stretch>
        </p:blipFill>
        <p:spPr>
          <a:xfrm>
            <a:off x="10543804" y="6176"/>
            <a:ext cx="1648196" cy="13869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2E7688F-4E94-1F62-0D2C-685B77C5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936" r="32469"/>
          <a:stretch>
            <a:fillRect/>
          </a:stretch>
        </p:blipFill>
        <p:spPr>
          <a:xfrm>
            <a:off x="8851616" y="0"/>
            <a:ext cx="1692188" cy="13869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789691-4782-03A1-103C-0B72B20223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637"/>
          <a:stretch>
            <a:fillRect/>
          </a:stretch>
        </p:blipFill>
        <p:spPr>
          <a:xfrm>
            <a:off x="0" y="0"/>
            <a:ext cx="1692188" cy="1386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78260E0-D9B0-3977-FA00-43F138E20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739" y="-6176"/>
            <a:ext cx="7254869" cy="1386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-428996" y="-6176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99137" y="1694033"/>
            <a:ext cx="11668398" cy="449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endParaRPr lang="en-US" b="1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solid-state, eco-friendly cooling system using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 12706 Peltier module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powered by renewable or waste energy to provide localized cooling without harmful refrigerants.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Explanation: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1. Utilizes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Peltier Effect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passing an electric current through dissimilar materials causes heat                    absorption at one junction and release at the other.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2. Integrates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Arduino-based monitoring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DS18B20/LM35 sensors for real-time temperature tracking.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 &amp; Uniqueness: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1.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greenhouse gas-emitting refrigerants (CFCs/Ammonia) found in conventional systems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2. No moving parts (except cooling fan), making it maintenance-free and highly portable.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Technical –SWDC, SLRTCE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86781F6-4EAF-90B1-6A37-F8A214FB27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637"/>
          <a:stretch>
            <a:fillRect/>
          </a:stretch>
        </p:blipFill>
        <p:spPr>
          <a:xfrm>
            <a:off x="0" y="0"/>
            <a:ext cx="1692188" cy="1386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8C3828-730B-F6D2-6783-9080603ADA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36" r="32469"/>
          <a:stretch>
            <a:fillRect/>
          </a:stretch>
        </p:blipFill>
        <p:spPr>
          <a:xfrm>
            <a:off x="8851616" y="0"/>
            <a:ext cx="1692188" cy="1386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0AD3DC-B174-BDE7-9C1D-8AD880FE35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452"/>
          <a:stretch>
            <a:fillRect/>
          </a:stretch>
        </p:blipFill>
        <p:spPr>
          <a:xfrm>
            <a:off x="10543804" y="6176"/>
            <a:ext cx="1648196" cy="1386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eltier Module Design For Precision Thermal Management | Design Guide">
            <a:extLst>
              <a:ext uri="{FF2B5EF4-FFF2-40B4-BE49-F238E27FC236}">
                <a16:creationId xmlns:a16="http://schemas.microsoft.com/office/drawing/2014/main" id="{8C724A78-94DD-CB62-E639-647F72BC0E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8382" y="2562826"/>
            <a:ext cx="4223617" cy="292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47625"/>
            <a:ext cx="9291484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93289" y="1755298"/>
            <a:ext cx="8150943" cy="4555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pPr algn="just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TEC1-12706 Peltier Module, Cooling Master H410R Heatsink, PWM Cooling Fan, Arduino Board, and 12V DC Power Supply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Arduino IDE, Embedded C/C++, and libraries like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OneWire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DallasTemperature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Mount the Peltier module between heat sinks using thermal paste for optimal heat transfer.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temperature sensors to both hot and cold sides for real-time data acquisition via Arduino.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PWM-controlled fans and efficient heat dissipation techniques to maintain a stable temperature gradient.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Technical –SWDC, SLRTCE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D63D2D-9F38-28DC-4534-A97186DCEE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8637"/>
          <a:stretch>
            <a:fillRect/>
          </a:stretch>
        </p:blipFill>
        <p:spPr>
          <a:xfrm>
            <a:off x="0" y="0"/>
            <a:ext cx="1692188" cy="1386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0026827-5D54-5CF3-66ED-3B80CF2862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36" r="32469"/>
          <a:stretch>
            <a:fillRect/>
          </a:stretch>
        </p:blipFill>
        <p:spPr>
          <a:xfrm>
            <a:off x="8851616" y="0"/>
            <a:ext cx="1692188" cy="1386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62A04D3-80A6-5B94-ABFE-A63F333309E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452"/>
          <a:stretch>
            <a:fillRect/>
          </a:stretch>
        </p:blipFill>
        <p:spPr>
          <a:xfrm>
            <a:off x="10543804" y="6176"/>
            <a:ext cx="1648196" cy="1386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371650" y="-3584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  FEASIBILITY 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74075" y="1774892"/>
            <a:ext cx="11043848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Analysis:</a:t>
            </a:r>
          </a:p>
          <a:p>
            <a:pPr lvl="0" algn="just">
              <a:defRPr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highly feasible for small-scale applications like portable medical storage or CPU cooling, where compact size is more critical than high efficiency.</a:t>
            </a:r>
          </a:p>
          <a:p>
            <a:pPr lvl="0" algn="just"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Efficiency: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Thermoelectric systems are less efficient than vapor-compression cycles.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Management: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drops significantly if the hot side is not cooled effectively.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Strategies:</a:t>
            </a:r>
          </a:p>
          <a:p>
            <a:pPr lvl="0" algn="just"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use of multi-stage (cascade) modules for greater temperature drops.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Technical –SWDC, SLRTCE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30D507-F3C5-C910-81B4-D8A73B3400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637"/>
          <a:stretch>
            <a:fillRect/>
          </a:stretch>
        </p:blipFill>
        <p:spPr>
          <a:xfrm>
            <a:off x="0" y="0"/>
            <a:ext cx="1692188" cy="1386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0C68083-812D-7B1D-B17D-BFDCC5C301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36" r="32469"/>
          <a:stretch>
            <a:fillRect/>
          </a:stretch>
        </p:blipFill>
        <p:spPr>
          <a:xfrm>
            <a:off x="8851616" y="0"/>
            <a:ext cx="1692188" cy="1386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AA7ADE-2504-18CD-811D-26B6D51F27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452"/>
          <a:stretch>
            <a:fillRect/>
          </a:stretch>
        </p:blipFill>
        <p:spPr>
          <a:xfrm>
            <a:off x="10543804" y="6176"/>
            <a:ext cx="1648196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84150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281948" y="1683631"/>
            <a:ext cx="7502013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Audience:</a:t>
            </a:r>
          </a:p>
          <a:p>
            <a:pPr lvl="0" algn="just"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Students in energy-limited regions, medical professionals needing portable sample storage, and electronics hobbyists</a:t>
            </a:r>
          </a:p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&amp; Environmental Benefits:</a:t>
            </a:r>
          </a:p>
          <a:p>
            <a:pPr lvl="0" algn="just"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global warming potential by eliminating Freon/Ammonia refrigerants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Renewable Integration: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powered by solar energy, making it ideal for off-grid cooling.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 lifespan due to the absence of mechanical wear-and-tear parts.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endParaRPr lang="en-US" sz="2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Technical –SWDC, SLRTCE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2467D6-580C-4749-AD6A-70BFDCB090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637"/>
          <a:stretch>
            <a:fillRect/>
          </a:stretch>
        </p:blipFill>
        <p:spPr>
          <a:xfrm>
            <a:off x="0" y="0"/>
            <a:ext cx="1692188" cy="1386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FF54F50-D20B-8A67-5B58-F175A95988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36" r="32469"/>
          <a:stretch>
            <a:fillRect/>
          </a:stretch>
        </p:blipFill>
        <p:spPr>
          <a:xfrm>
            <a:off x="8851616" y="0"/>
            <a:ext cx="1692188" cy="1386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4E42D6-B448-8ADB-A90F-B11874D46A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452"/>
          <a:stretch>
            <a:fillRect/>
          </a:stretch>
        </p:blipFill>
        <p:spPr>
          <a:xfrm>
            <a:off x="10543804" y="6176"/>
            <a:ext cx="1648196" cy="1386960"/>
          </a:xfrm>
          <a:prstGeom prst="rect">
            <a:avLst/>
          </a:prstGeom>
        </p:spPr>
      </p:pic>
      <p:pic>
        <p:nvPicPr>
          <p:cNvPr id="2050" name="Picture 2" descr="Peltier Cooler Kit ...">
            <a:extLst>
              <a:ext uri="{FF2B5EF4-FFF2-40B4-BE49-F238E27FC236}">
                <a16:creationId xmlns:a16="http://schemas.microsoft.com/office/drawing/2014/main" id="{D796FA8B-8569-ABAE-5934-38AEAA1CF1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23" y="1675165"/>
            <a:ext cx="3593690" cy="3593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F3B0C3-6158-93EA-BB3A-AEB449512AC9}"/>
              </a:ext>
            </a:extLst>
          </p:cNvPr>
          <p:cNvSpPr txBox="1"/>
          <p:nvPr/>
        </p:nvSpPr>
        <p:spPr>
          <a:xfrm>
            <a:off x="-19050" y="2650067"/>
            <a:ext cx="13546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Sink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376335-B084-CD22-5307-122BEB3AB036}"/>
              </a:ext>
            </a:extLst>
          </p:cNvPr>
          <p:cNvCxnSpPr>
            <a:cxnSpLocks/>
          </p:cNvCxnSpPr>
          <p:nvPr/>
        </p:nvCxnSpPr>
        <p:spPr>
          <a:xfrm>
            <a:off x="846094" y="2811649"/>
            <a:ext cx="3815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9CE12F1-52F3-5DCB-85F7-70912E3DE84C}"/>
              </a:ext>
            </a:extLst>
          </p:cNvPr>
          <p:cNvSpPr txBox="1"/>
          <p:nvPr/>
        </p:nvSpPr>
        <p:spPr>
          <a:xfrm>
            <a:off x="2481143" y="2001640"/>
            <a:ext cx="171026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Peltier Module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249E95B-EF36-638A-7B1E-FB793F7B4EF0}"/>
              </a:ext>
            </a:extLst>
          </p:cNvPr>
          <p:cNvCxnSpPr>
            <a:cxnSpLocks/>
          </p:cNvCxnSpPr>
          <p:nvPr/>
        </p:nvCxnSpPr>
        <p:spPr>
          <a:xfrm flipH="1">
            <a:off x="2863442" y="2324805"/>
            <a:ext cx="300088" cy="63906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D50BA2D-94A7-D508-8795-1BBD243787D7}"/>
              </a:ext>
            </a:extLst>
          </p:cNvPr>
          <p:cNvSpPr txBox="1"/>
          <p:nvPr/>
        </p:nvSpPr>
        <p:spPr>
          <a:xfrm>
            <a:off x="565601" y="4902680"/>
            <a:ext cx="157537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Fan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386D46-7817-1A66-A5CB-7AD5A27EE12C}"/>
              </a:ext>
            </a:extLst>
          </p:cNvPr>
          <p:cNvCxnSpPr/>
          <p:nvPr/>
        </p:nvCxnSpPr>
        <p:spPr>
          <a:xfrm flipV="1">
            <a:off x="1126067" y="4445000"/>
            <a:ext cx="355600" cy="4576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77682B0-649D-8A10-4789-8D4F2CA2B33C}"/>
              </a:ext>
            </a:extLst>
          </p:cNvPr>
          <p:cNvSpPr txBox="1"/>
          <p:nvPr/>
        </p:nvSpPr>
        <p:spPr>
          <a:xfrm>
            <a:off x="3336277" y="2701769"/>
            <a:ext cx="118321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 sensor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FCAAE7E-EA12-AB34-EBC9-D055E9E2E423}"/>
              </a:ext>
            </a:extLst>
          </p:cNvPr>
          <p:cNvCxnSpPr>
            <a:stCxn id="19" idx="1"/>
          </p:cNvCxnSpPr>
          <p:nvPr/>
        </p:nvCxnSpPr>
        <p:spPr>
          <a:xfrm flipH="1">
            <a:off x="3013486" y="2863352"/>
            <a:ext cx="322791" cy="243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204855" y="10657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12410" y="1643165"/>
            <a:ext cx="7400723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v"/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References:</a:t>
            </a:r>
          </a:p>
          <a:p>
            <a:pPr lvl="0" algn="just">
              <a:defRPr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Jean Charles Athanase Peltier (1834) - "On a new phenomenon of electricity“.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M. Rowe (2006) - "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Thermoelectrics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Handbook: Macro to Nano“.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Julian Goldsmid (2010) - "Introduction to Thermoelectricity“.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NASA (2020) - "Thermoelectric Devices for Space Applications“.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Peltier, J. C. A. (1834). "On a new phenomenon of electricity." Annales de Chimie et de Physique. (The original discovery of the Peltier effect)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Rowe, D. M. (Ed.). (2018). CRC Handbook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Thermoelectrics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Micro to Nano. CRC Press. (The most comprehensive technical guide for thermoelectric engineering).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Technical –SWDC, SLRTCE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E61B7B-5F31-4F3A-8361-E098FBBD1B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637"/>
          <a:stretch>
            <a:fillRect/>
          </a:stretch>
        </p:blipFill>
        <p:spPr>
          <a:xfrm>
            <a:off x="0" y="0"/>
            <a:ext cx="1692188" cy="1386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E66390-8360-E17C-1D6E-C4686399DD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36" r="32469"/>
          <a:stretch>
            <a:fillRect/>
          </a:stretch>
        </p:blipFill>
        <p:spPr>
          <a:xfrm>
            <a:off x="8851616" y="0"/>
            <a:ext cx="1692188" cy="1386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D98FAA-001C-EA62-2904-B398FF5B36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452"/>
          <a:stretch>
            <a:fillRect/>
          </a:stretch>
        </p:blipFill>
        <p:spPr>
          <a:xfrm>
            <a:off x="10543804" y="6176"/>
            <a:ext cx="1648196" cy="1386960"/>
          </a:xfrm>
          <a:prstGeom prst="rect">
            <a:avLst/>
          </a:prstGeom>
        </p:spPr>
      </p:pic>
      <p:pic>
        <p:nvPicPr>
          <p:cNvPr id="4098" name="Picture 2" descr="arcTEC™ Structure – Improved Performance and Longer Life in Peltier Modules  | Same Sky">
            <a:extLst>
              <a:ext uri="{FF2B5EF4-FFF2-40B4-BE49-F238E27FC236}">
                <a16:creationId xmlns:a16="http://schemas.microsoft.com/office/drawing/2014/main" id="{8B7C3027-3B70-F88B-7A7C-D1D71E1830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95" t="-7843" r="50000" b="-12371"/>
          <a:stretch>
            <a:fillRect/>
          </a:stretch>
        </p:blipFill>
        <p:spPr bwMode="auto">
          <a:xfrm>
            <a:off x="8487902" y="1499710"/>
            <a:ext cx="2434100" cy="2054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arcTEC™ Structure – Improved Performance and Longer Life in Peltier Modules  | Same Sky">
            <a:extLst>
              <a:ext uri="{FF2B5EF4-FFF2-40B4-BE49-F238E27FC236}">
                <a16:creationId xmlns:a16="http://schemas.microsoft.com/office/drawing/2014/main" id="{452866FD-1BD1-FE79-73E1-C8A8B49896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57" t="2598" r="1652" b="-1"/>
          <a:stretch>
            <a:fillRect/>
          </a:stretch>
        </p:blipFill>
        <p:spPr bwMode="auto">
          <a:xfrm>
            <a:off x="8737600" y="3980824"/>
            <a:ext cx="2362200" cy="187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23ED05-5A15-501D-5FD8-A06624C208A9}"/>
              </a:ext>
            </a:extLst>
          </p:cNvPr>
          <p:cNvSpPr txBox="1"/>
          <p:nvPr/>
        </p:nvSpPr>
        <p:spPr>
          <a:xfrm>
            <a:off x="9247255" y="3320278"/>
            <a:ext cx="1852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 side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E485F2-AB12-D804-1A41-E0099EED872B}"/>
              </a:ext>
            </a:extLst>
          </p:cNvPr>
          <p:cNvSpPr txBox="1"/>
          <p:nvPr/>
        </p:nvSpPr>
        <p:spPr>
          <a:xfrm>
            <a:off x="9406466" y="5815041"/>
            <a:ext cx="1845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Hot side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7B339-409A-3641-30EB-FCD98BAE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B58D060-D507-C197-258D-D78CE0D14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641129EE-070B-08D9-BEEA-E1E07E9F1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8996" y="151808"/>
            <a:ext cx="10972800" cy="1143000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F08A1-6452-05EC-64F5-98C45CC1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D36CB4C-D40F-4F29-5987-44479BF20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Technical –SWDC, SLRTCE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BB0FBA-5EF7-8C95-57E1-A49B083C68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637"/>
          <a:stretch>
            <a:fillRect/>
          </a:stretch>
        </p:blipFill>
        <p:spPr>
          <a:xfrm>
            <a:off x="0" y="0"/>
            <a:ext cx="1692188" cy="1386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7D2465-6E8A-6403-863C-7A992B95DC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36" r="32469"/>
          <a:stretch>
            <a:fillRect/>
          </a:stretch>
        </p:blipFill>
        <p:spPr>
          <a:xfrm>
            <a:off x="8851616" y="0"/>
            <a:ext cx="1692188" cy="1386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FBCBAF8-3610-95C0-739B-C53CE674CE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452"/>
          <a:stretch>
            <a:fillRect/>
          </a:stretch>
        </p:blipFill>
        <p:spPr>
          <a:xfrm>
            <a:off x="10543804" y="6176"/>
            <a:ext cx="1648196" cy="13869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50BB91E-9CB4-94EC-6062-A71FAC7932E4}"/>
              </a:ext>
            </a:extLst>
          </p:cNvPr>
          <p:cNvSpPr txBox="1"/>
          <p:nvPr/>
        </p:nvSpPr>
        <p:spPr>
          <a:xfrm>
            <a:off x="530668" y="1493930"/>
            <a:ext cx="1049048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hangingPunct="0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defTabSz="914400" eaLnBrk="0" hangingPunct="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reached a temperature difference ($\Delta T$) of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40–60°C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optimal voltage conditions.</a:t>
            </a:r>
          </a:p>
          <a:p>
            <a:pPr marL="342900" lvl="0" indent="-342900" defTabSz="914400" eaLnBrk="0" hangingPunct="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Performance: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achieved a stable temperature of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0°C to 3°C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cold side within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minutes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operation, starting from an ambient temperature of 32°C.</a:t>
            </a:r>
          </a:p>
          <a:p>
            <a:pPr marL="342900" lvl="0" indent="-342900" defTabSz="914400" eaLnBrk="0" hangingPunct="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Analysis: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was observed that the Coefficient of Performance (COP) improved by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using a pulse-width modulation (PWM) controller compared to a constant DC supply, reducing unnecessary power consumption</a:t>
            </a:r>
          </a:p>
          <a:p>
            <a:pPr marL="342900" lvl="0" indent="-342900" defTabSz="914400" eaLnBrk="0" hangingPunct="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Validation: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Real-time data logging via Arduino confirmed that the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DS18B20/LM35 sensors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provided accuracy within ±0.5°C, allowing for precise thermal management and preventing module overheating.</a:t>
            </a:r>
            <a:endParaRPr lang="en-US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029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DE0F9-5091-3F92-FC6A-88E9B78D5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8283FA4-3631-9D0F-7485-060E1AFF69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201EA17C-0615-F9D3-7F8A-F0335C164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28996" y="151808"/>
            <a:ext cx="10972800" cy="1143000"/>
          </a:xfrm>
        </p:spPr>
        <p:txBody>
          <a:bodyPr/>
          <a:lstStyle/>
          <a:p>
            <a:pPr eaLnBrk="1" hangingPunct="1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060B5-AED4-5321-B26E-6029B1FE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1CFA04-18CF-5BAE-FA81-32972FE58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lvl="0">
              <a:defRPr/>
            </a:pPr>
            <a:r>
              <a:rPr lang="en-US" dirty="0">
                <a:solidFill>
                  <a:prstClr val="white"/>
                </a:solidFill>
              </a:rPr>
              <a:t>Technical –SWDC, SLRTCE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A177ED-4155-F123-C42C-CA68653F30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8637"/>
          <a:stretch>
            <a:fillRect/>
          </a:stretch>
        </p:blipFill>
        <p:spPr>
          <a:xfrm>
            <a:off x="0" y="0"/>
            <a:ext cx="1692188" cy="1386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628182-30A3-0D49-7AA3-6DE4542A5D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2936" r="32469"/>
          <a:stretch>
            <a:fillRect/>
          </a:stretch>
        </p:blipFill>
        <p:spPr>
          <a:xfrm>
            <a:off x="8851616" y="0"/>
            <a:ext cx="1692188" cy="13869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ACDB5C-1D71-E26B-43DA-8664BEEB27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452"/>
          <a:stretch>
            <a:fillRect/>
          </a:stretch>
        </p:blipFill>
        <p:spPr>
          <a:xfrm>
            <a:off x="10543804" y="6176"/>
            <a:ext cx="1648196" cy="13869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240483E-3796-5335-B6FC-B2CD23C6A484}"/>
              </a:ext>
            </a:extLst>
          </p:cNvPr>
          <p:cNvSpPr txBox="1"/>
          <p:nvPr/>
        </p:nvSpPr>
        <p:spPr>
          <a:xfrm>
            <a:off x="412681" y="1290239"/>
            <a:ext cx="1106156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hangingPunct="0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hangingPunct="0">
              <a:buFont typeface="Wingdings" panose="05000000000000000000" pitchFamily="2" charset="2"/>
              <a:buChar char="v"/>
            </a:pPr>
            <a:r>
              <a:rPr lang="en-US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defTabSz="914400" eaLnBrk="0" hangingPunct="0"/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 defTabSz="914400" eaLnBrk="0" hangingPunct="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of Concept: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successfully demonstrates that thermoelectric cooling is a viable,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zero-refrigerant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alternative for localized applications like portable medical storage and electronic component cooling</a:t>
            </a:r>
          </a:p>
          <a:p>
            <a:pPr marL="342900" lvl="0" indent="-342900" algn="just" defTabSz="914400" eaLnBrk="0" hangingPunct="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the current prototype is small-scale, the design is modular. Multiple TEC units can be "cascaded" or arranged in arrays to increase cooling capacity for larger enclosures.</a:t>
            </a:r>
          </a:p>
          <a:p>
            <a:pPr marL="342900" lvl="0" indent="-342900" algn="just" defTabSz="914400" eaLnBrk="0" hangingPunct="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Goal: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eliminating CFCs and HCFCs, this solution aligns with global green engineering standards and provides a path toward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solar-powered refrigeration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off-grid rural areas.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9585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7601</TotalTime>
  <Words>813</Words>
  <Application>Microsoft Office PowerPoint</Application>
  <PresentationFormat>Widescreen</PresentationFormat>
  <Paragraphs>99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ＭＳ Ｐゴシック</vt:lpstr>
      <vt:lpstr>Arial</vt:lpstr>
      <vt:lpstr>Calibri</vt:lpstr>
      <vt:lpstr>Times New Roman</vt:lpstr>
      <vt:lpstr>TradeGothic</vt:lpstr>
      <vt:lpstr>Wingdings</vt:lpstr>
      <vt:lpstr>Office Theme</vt:lpstr>
      <vt:lpstr>PowerPoint Presentation</vt:lpstr>
      <vt:lpstr> IDEA TITLE</vt:lpstr>
      <vt:lpstr>TECHNICAL APPROACH</vt:lpstr>
      <vt:lpstr>  FEASIBILITY AND VIABILITY</vt:lpstr>
      <vt:lpstr>IMPACT AND BENEFITS</vt:lpstr>
      <vt:lpstr>RESEARCH  AND REFERENCES</vt:lpstr>
      <vt:lpstr>Result</vt:lpstr>
      <vt:lpstr> Conclusion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Vaibhav Amberkar</cp:lastModifiedBy>
  <cp:revision>151</cp:revision>
  <dcterms:created xsi:type="dcterms:W3CDTF">2013-12-12T18:46:50Z</dcterms:created>
  <dcterms:modified xsi:type="dcterms:W3CDTF">2026-04-14T06:01:29Z</dcterms:modified>
  <cp:category/>
</cp:coreProperties>
</file>